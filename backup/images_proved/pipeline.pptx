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414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2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97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rpus-to-pools"/>
          <p:cNvSpPr/>
          <p:nvPr/>
        </p:nvSpPr>
        <p:spPr>
          <a:xfrm>
            <a:off x="1889486" y="2465505"/>
            <a:ext cx="335827" cy="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7" name="pools-to-shift"/>
          <p:cNvSpPr/>
          <p:nvPr/>
        </p:nvSpPr>
        <p:spPr>
          <a:xfrm>
            <a:off x="3786378" y="2522836"/>
            <a:ext cx="342176" cy="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8" name="shift-to-content"/>
          <p:cNvSpPr/>
          <p:nvPr/>
        </p:nvSpPr>
        <p:spPr>
          <a:xfrm flipV="1">
            <a:off x="6222849" y="1707956"/>
            <a:ext cx="886798" cy="425642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9" name="shift-to-protocol"/>
          <p:cNvSpPr/>
          <p:nvPr/>
        </p:nvSpPr>
        <p:spPr>
          <a:xfrm>
            <a:off x="6222849" y="2870199"/>
            <a:ext cx="885266" cy="426548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2" name="cells-to-model"/>
          <p:cNvSpPr/>
          <p:nvPr/>
        </p:nvSpPr>
        <p:spPr>
          <a:xfrm>
            <a:off x="11218698" y="2493459"/>
            <a:ext cx="443813" cy="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3" name="model-to-evaluation"/>
          <p:cNvSpPr/>
          <p:nvPr/>
        </p:nvSpPr>
        <p:spPr>
          <a:xfrm>
            <a:off x="13249761" y="2494257"/>
            <a:ext cx="236727" cy="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4" name="evaluation-to-shapley"/>
          <p:cNvSpPr/>
          <p:nvPr/>
        </p:nvSpPr>
        <p:spPr>
          <a:xfrm>
            <a:off x="14798653" y="3124200"/>
            <a:ext cx="0" cy="419736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5" name="shapley-to-gate"/>
          <p:cNvSpPr/>
          <p:nvPr/>
        </p:nvSpPr>
        <p:spPr>
          <a:xfrm>
            <a:off x="14865099" y="4725562"/>
            <a:ext cx="0" cy="3048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6" name="corpus-card"/>
          <p:cNvSpPr/>
          <p:nvPr/>
        </p:nvSpPr>
        <p:spPr>
          <a:xfrm>
            <a:off x="178053" y="1684020"/>
            <a:ext cx="1845228" cy="1541780"/>
          </a:xfrm>
          <a:prstGeom prst="roundRect">
            <a:avLst>
              <a:gd name="adj" fmla="val 8511"/>
            </a:avLst>
          </a:prstGeom>
          <a:solidFill>
            <a:srgbClr val="E8F0F8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17" name="corpus-title"/>
          <p:cNvSpPr/>
          <p:nvPr/>
        </p:nvSpPr>
        <p:spPr>
          <a:xfrm>
            <a:off x="420640" y="1786185"/>
            <a:ext cx="1360054" cy="62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CORPUS &amp; LABEL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</a:t>
            </a:r>
            <a:endParaRPr lang="en-US" sz="1800" dirty="0"/>
          </a:p>
        </p:txBody>
      </p:sp>
      <p:sp>
        <p:nvSpPr>
          <p:cNvPr id="18" name="corpus-body"/>
          <p:cNvSpPr/>
          <p:nvPr/>
        </p:nvSpPr>
        <p:spPr>
          <a:xfrm>
            <a:off x="367439" y="2552700"/>
            <a:ext cx="1473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Provenance, reliability,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85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eligibility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pools-card"/>
          <p:cNvSpPr/>
          <p:nvPr/>
        </p:nvSpPr>
        <p:spPr>
          <a:xfrm>
            <a:off x="2221537" y="1684020"/>
            <a:ext cx="1727199" cy="1565716"/>
          </a:xfrm>
          <a:prstGeom prst="roundRect">
            <a:avLst>
              <a:gd name="adj" fmla="val 8511"/>
            </a:avLst>
          </a:prstGeom>
          <a:solidFill>
            <a:srgbClr val="E8F0F8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20" name="pools-title"/>
          <p:cNvSpPr/>
          <p:nvPr/>
        </p:nvSpPr>
        <p:spPr>
          <a:xfrm>
            <a:off x="2349260" y="1631756"/>
            <a:ext cx="1473200" cy="80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DATA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POOLS</a:t>
            </a:r>
            <a:endParaRPr lang="en-US" sz="1800" dirty="0"/>
          </a:p>
        </p:txBody>
      </p:sp>
      <p:sp>
        <p:nvSpPr>
          <p:cNvPr id="21" name="pools-body"/>
          <p:cNvSpPr/>
          <p:nvPr/>
        </p:nvSpPr>
        <p:spPr>
          <a:xfrm>
            <a:off x="2259637" y="2240086"/>
            <a:ext cx="165172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 groups; train / val /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85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 / test / reserve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shift-diamond"/>
          <p:cNvSpPr/>
          <p:nvPr/>
        </p:nvSpPr>
        <p:spPr>
          <a:xfrm>
            <a:off x="4192491" y="1374320"/>
            <a:ext cx="2979275" cy="2291736"/>
          </a:xfrm>
          <a:prstGeom prst="diamond">
            <a:avLst/>
          </a:prstGeom>
          <a:solidFill>
            <a:srgbClr val="EEF7E9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23" name="shift-title"/>
          <p:cNvSpPr/>
          <p:nvPr/>
        </p:nvSpPr>
        <p:spPr>
          <a:xfrm>
            <a:off x="4759924" y="1942761"/>
            <a:ext cx="1844408" cy="5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altLang="en-US" sz="164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DECLARED </a:t>
            </a:r>
          </a:p>
          <a:p>
            <a:pPr algn="ctr">
              <a:lnSpc>
                <a:spcPts val="1800"/>
              </a:lnSpc>
            </a:pPr>
            <a:r>
              <a:rPr lang="en-US" altLang="en-US" sz="164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× 2 FACTORIAL DESIGN</a:t>
            </a:r>
          </a:p>
        </p:txBody>
      </p:sp>
      <p:sp>
        <p:nvSpPr>
          <p:cNvPr id="24" name="shift-body"/>
          <p:cNvSpPr/>
          <p:nvPr/>
        </p:nvSpPr>
        <p:spPr>
          <a:xfrm>
            <a:off x="4391022" y="2562793"/>
            <a:ext cx="2563390" cy="808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controlled factors;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decision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rule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content-card"/>
          <p:cNvSpPr/>
          <p:nvPr/>
        </p:nvSpPr>
        <p:spPr>
          <a:xfrm>
            <a:off x="7122347" y="1178480"/>
            <a:ext cx="1822226" cy="1149350"/>
          </a:xfrm>
          <a:prstGeom prst="roundRect">
            <a:avLst>
              <a:gd name="adj" fmla="val 11111"/>
            </a:avLst>
          </a:prstGeom>
          <a:solidFill>
            <a:srgbClr val="EEF7E9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26" name="content-title"/>
          <p:cNvSpPr/>
          <p:nvPr/>
        </p:nvSpPr>
        <p:spPr>
          <a:xfrm>
            <a:off x="7354010" y="1291580"/>
            <a:ext cx="13589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MIXTURE</a:t>
            </a:r>
            <a:endParaRPr lang="en-US" sz="1800" dirty="0"/>
          </a:p>
        </p:txBody>
      </p:sp>
      <p:sp>
        <p:nvSpPr>
          <p:cNvPr id="27" name="content-body"/>
          <p:cNvSpPr/>
          <p:nvPr/>
        </p:nvSpPr>
        <p:spPr>
          <a:xfrm>
            <a:off x="7217479" y="1848024"/>
            <a:ext cx="1625600" cy="30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Reserve-pool composition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protocol-card"/>
          <p:cNvSpPr/>
          <p:nvPr/>
        </p:nvSpPr>
        <p:spPr>
          <a:xfrm>
            <a:off x="7122347" y="2731597"/>
            <a:ext cx="1822226" cy="1130299"/>
          </a:xfrm>
          <a:prstGeom prst="roundRect">
            <a:avLst>
              <a:gd name="adj" fmla="val 12500"/>
            </a:avLst>
          </a:prstGeom>
          <a:solidFill>
            <a:srgbClr val="EEF7E9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29" name="protocol-title"/>
          <p:cNvSpPr/>
          <p:nvPr/>
        </p:nvSpPr>
        <p:spPr>
          <a:xfrm>
            <a:off x="7236499" y="2787939"/>
            <a:ext cx="1606580" cy="621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ANNOTATION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PROTOCOL</a:t>
            </a:r>
            <a:endParaRPr lang="en-US" sz="1800" dirty="0"/>
          </a:p>
        </p:txBody>
      </p:sp>
      <p:sp>
        <p:nvSpPr>
          <p:cNvPr id="30" name="protocol-body"/>
          <p:cNvSpPr/>
          <p:nvPr/>
        </p:nvSpPr>
        <p:spPr>
          <a:xfrm>
            <a:off x="7128579" y="3469671"/>
            <a:ext cx="1803400" cy="29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Transition matrix T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cells-card"/>
          <p:cNvSpPr/>
          <p:nvPr/>
        </p:nvSpPr>
        <p:spPr>
          <a:xfrm>
            <a:off x="9236940" y="1707956"/>
            <a:ext cx="2268728" cy="1517845"/>
          </a:xfrm>
          <a:prstGeom prst="roundRect">
            <a:avLst>
              <a:gd name="adj" fmla="val 8511"/>
            </a:avLst>
          </a:prstGeom>
          <a:solidFill>
            <a:srgbClr val="EEF7E9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32" name="cells-title"/>
          <p:cNvSpPr/>
          <p:nvPr/>
        </p:nvSpPr>
        <p:spPr>
          <a:xfrm>
            <a:off x="9279993" y="1928358"/>
            <a:ext cx="21826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FACTORIAL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CELLS</a:t>
            </a:r>
            <a:endParaRPr lang="en-US" sz="1800" dirty="0"/>
          </a:p>
        </p:txBody>
      </p:sp>
      <p:sp>
        <p:nvSpPr>
          <p:cNvPr id="33" name="cells-body"/>
          <p:cNvSpPr/>
          <p:nvPr/>
        </p:nvSpPr>
        <p:spPr>
          <a:xfrm>
            <a:off x="9288795" y="2603500"/>
            <a:ext cx="218262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85"/>
              </a:lnSpc>
            </a:pPr>
            <a:r>
              <a:rPr lang="en-US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· Content-only  Protocol-only · Joint</a:t>
            </a:r>
          </a:p>
        </p:txBody>
      </p:sp>
      <p:sp>
        <p:nvSpPr>
          <p:cNvPr id="34" name="model-card"/>
          <p:cNvSpPr/>
          <p:nvPr/>
        </p:nvSpPr>
        <p:spPr>
          <a:xfrm>
            <a:off x="11687912" y="1707957"/>
            <a:ext cx="1616117" cy="1517844"/>
          </a:xfrm>
          <a:prstGeom prst="roundRect">
            <a:avLst>
              <a:gd name="adj" fmla="val 8511"/>
            </a:avLst>
          </a:prstGeom>
          <a:solidFill>
            <a:srgbClr val="E8F0F8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35" name="model-title"/>
          <p:cNvSpPr/>
          <p:nvPr/>
        </p:nvSpPr>
        <p:spPr>
          <a:xfrm>
            <a:off x="11774275" y="1786185"/>
            <a:ext cx="1435100" cy="57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</a:t>
            </a:r>
            <a:endParaRPr lang="en-US" sz="1800" dirty="0"/>
          </a:p>
        </p:txBody>
      </p:sp>
      <p:sp>
        <p:nvSpPr>
          <p:cNvPr id="36" name="model-body"/>
          <p:cNvSpPr/>
          <p:nvPr/>
        </p:nvSpPr>
        <p:spPr>
          <a:xfrm>
            <a:off x="11738461" y="2520188"/>
            <a:ext cx="1511300" cy="48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altLang="en-US" sz="168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arms × 4 cells × 5 seeds</a:t>
            </a:r>
            <a:endParaRPr lang="en-US" sz="16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68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runs</a:t>
            </a:r>
            <a:endParaRPr lang="en-US" sz="16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68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Source-only</a:t>
            </a:r>
            <a:endParaRPr lang="en-US" sz="16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evaluation-card"/>
          <p:cNvSpPr/>
          <p:nvPr/>
        </p:nvSpPr>
        <p:spPr>
          <a:xfrm>
            <a:off x="13495124" y="1707956"/>
            <a:ext cx="2637474" cy="1510029"/>
          </a:xfrm>
          <a:prstGeom prst="roundRect">
            <a:avLst>
              <a:gd name="adj" fmla="val 8511"/>
            </a:avLst>
          </a:prstGeom>
          <a:solidFill>
            <a:srgbClr val="E8F0F8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38" name="evaluation-title"/>
          <p:cNvSpPr/>
          <p:nvPr/>
        </p:nvSpPr>
        <p:spPr>
          <a:xfrm>
            <a:off x="13684954" y="1833101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39" name="evaluation-body"/>
          <p:cNvSpPr/>
          <p:nvPr/>
        </p:nvSpPr>
        <p:spPr>
          <a:xfrm>
            <a:off x="13490322" y="2449050"/>
            <a:ext cx="2642575" cy="664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altLang="en-US" sz="168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Macro-F1 · AUROC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68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AUPRC · ECE</a:t>
            </a:r>
            <a:endParaRPr lang="en-US" sz="16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67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 &amp; robustness grid</a:t>
            </a:r>
            <a:endParaRPr lang="en-US" sz="167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shapley-card"/>
          <p:cNvSpPr/>
          <p:nvPr/>
        </p:nvSpPr>
        <p:spPr>
          <a:xfrm>
            <a:off x="13352316" y="3544463"/>
            <a:ext cx="2780282" cy="1168400"/>
          </a:xfrm>
          <a:prstGeom prst="roundRect">
            <a:avLst>
              <a:gd name="adj" fmla="val 8696"/>
            </a:avLst>
          </a:prstGeom>
          <a:solidFill>
            <a:srgbClr val="E8F0F8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41" name="shapley-title"/>
          <p:cNvSpPr/>
          <p:nvPr/>
        </p:nvSpPr>
        <p:spPr>
          <a:xfrm>
            <a:off x="13569185" y="3606056"/>
            <a:ext cx="2425700" cy="510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SHAPLEY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</a:t>
            </a:r>
            <a:endParaRPr lang="en-US" sz="1800" dirty="0"/>
          </a:p>
        </p:txBody>
      </p:sp>
      <p:sp>
        <p:nvSpPr>
          <p:cNvPr id="42" name="shapley-body"/>
          <p:cNvSpPr/>
          <p:nvPr/>
        </p:nvSpPr>
        <p:spPr>
          <a:xfrm>
            <a:off x="13437404" y="4230263"/>
            <a:ext cx="260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effects &amp; interaction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factorial coverage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gate-card"/>
          <p:cNvSpPr/>
          <p:nvPr/>
        </p:nvSpPr>
        <p:spPr>
          <a:xfrm>
            <a:off x="13349522" y="5030362"/>
            <a:ext cx="2783076" cy="1472035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5240">
            <a:solidFill>
              <a:srgbClr val="15294B"/>
            </a:solidFill>
            <a:prstDash val="solid"/>
          </a:ln>
        </p:spPr>
      </p:sp>
      <p:sp>
        <p:nvSpPr>
          <p:cNvPr id="44" name="gate-title"/>
          <p:cNvSpPr/>
          <p:nvPr/>
        </p:nvSpPr>
        <p:spPr>
          <a:xfrm>
            <a:off x="13537181" y="5160065"/>
            <a:ext cx="2425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UNCERTAINTY &amp;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CLAIM GATE</a:t>
            </a:r>
            <a:endParaRPr lang="en-US" sz="1800" dirty="0"/>
          </a:p>
        </p:txBody>
      </p:sp>
      <p:sp>
        <p:nvSpPr>
          <p:cNvPr id="45" name="gate-body"/>
          <p:cNvSpPr/>
          <p:nvPr/>
        </p:nvSpPr>
        <p:spPr>
          <a:xfrm>
            <a:off x="13448281" y="5625473"/>
            <a:ext cx="2603500" cy="92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Seed intervals · paired tests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Causal claims only when supported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audit-to-stress"/>
          <p:cNvSpPr/>
          <p:nvPr/>
        </p:nvSpPr>
        <p:spPr>
          <a:xfrm>
            <a:off x="2979463" y="5223565"/>
            <a:ext cx="495300" cy="9144"/>
          </a:xfrm>
          <a:prstGeom prst="line">
            <a:avLst/>
          </a:prstGeom>
          <a:ln w="25400">
            <a:solidFill>
              <a:srgbClr val="9AA6B2"/>
            </a:solidFill>
            <a:prstDash val="dash"/>
            <a:tailEnd type="triangle"/>
          </a:ln>
        </p:spPr>
      </p:sp>
      <p:sp>
        <p:nvSpPr>
          <p:cNvPr id="47" name="stress-to-diagnostic"/>
          <p:cNvSpPr/>
          <p:nvPr/>
        </p:nvSpPr>
        <p:spPr>
          <a:xfrm>
            <a:off x="6522763" y="5223565"/>
            <a:ext cx="495300" cy="9144"/>
          </a:xfrm>
          <a:prstGeom prst="line">
            <a:avLst/>
          </a:prstGeom>
          <a:ln w="25400">
            <a:solidFill>
              <a:srgbClr val="9AA6B2"/>
            </a:solidFill>
            <a:prstDash val="dash"/>
            <a:tailEnd type="triangle"/>
          </a:ln>
        </p:spPr>
      </p:sp>
      <p:sp>
        <p:nvSpPr>
          <p:cNvPr id="48" name="external-audit-card"/>
          <p:cNvSpPr/>
          <p:nvPr/>
        </p:nvSpPr>
        <p:spPr>
          <a:xfrm>
            <a:off x="439463" y="4715565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5240">
            <a:solidFill>
              <a:srgbClr val="9AA6B2"/>
            </a:solidFill>
            <a:prstDash val="dash"/>
          </a:ln>
        </p:spPr>
      </p:sp>
      <p:sp>
        <p:nvSpPr>
          <p:cNvPr id="49" name="external-audit-title"/>
          <p:cNvSpPr/>
          <p:nvPr/>
        </p:nvSpPr>
        <p:spPr>
          <a:xfrm>
            <a:off x="541063" y="4753328"/>
            <a:ext cx="2336800" cy="3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AUDIT</a:t>
            </a:r>
            <a:endParaRPr lang="en-US" sz="1800" dirty="0"/>
          </a:p>
        </p:txBody>
      </p:sp>
      <p:sp>
        <p:nvSpPr>
          <p:cNvPr id="50" name="external-audit-body"/>
          <p:cNvSpPr/>
          <p:nvPr/>
        </p:nvSpPr>
        <p:spPr>
          <a:xfrm>
            <a:off x="541063" y="5198165"/>
            <a:ext cx="2336800" cy="42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corpus &amp;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overlap checks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stress-card"/>
          <p:cNvSpPr/>
          <p:nvPr/>
        </p:nvSpPr>
        <p:spPr>
          <a:xfrm>
            <a:off x="3474763" y="4712863"/>
            <a:ext cx="3048000" cy="1016605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5240">
            <a:solidFill>
              <a:srgbClr val="9AA6B2"/>
            </a:solidFill>
            <a:prstDash val="dash"/>
          </a:ln>
        </p:spPr>
      </p:sp>
      <p:sp>
        <p:nvSpPr>
          <p:cNvPr id="52" name="stress-title"/>
          <p:cNvSpPr/>
          <p:nvPr/>
        </p:nvSpPr>
        <p:spPr>
          <a:xfrm>
            <a:off x="3576363" y="4867965"/>
            <a:ext cx="2844800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 STRESS TESTS</a:t>
            </a:r>
            <a:endParaRPr lang="en-US" sz="1800" dirty="0"/>
          </a:p>
        </p:txBody>
      </p:sp>
      <p:sp>
        <p:nvSpPr>
          <p:cNvPr id="53" name="stress-body"/>
          <p:cNvSpPr/>
          <p:nvPr/>
        </p:nvSpPr>
        <p:spPr>
          <a:xfrm>
            <a:off x="3576363" y="5371305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Robustness evidence only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4" name="diagnostic-card"/>
          <p:cNvSpPr/>
          <p:nvPr/>
        </p:nvSpPr>
        <p:spPr>
          <a:xfrm>
            <a:off x="7018063" y="4719503"/>
            <a:ext cx="3175000" cy="1009965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5240">
            <a:solidFill>
              <a:srgbClr val="9AA6B2"/>
            </a:solidFill>
            <a:prstDash val="dash"/>
          </a:ln>
        </p:spPr>
      </p:sp>
      <p:sp>
        <p:nvSpPr>
          <p:cNvPr id="55" name="diagnostic-title"/>
          <p:cNvSpPr/>
          <p:nvPr/>
        </p:nvSpPr>
        <p:spPr>
          <a:xfrm>
            <a:off x="7119663" y="4753328"/>
            <a:ext cx="2971800" cy="3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DIAGNOSTIC EVIDENCE</a:t>
            </a:r>
            <a:endParaRPr lang="en-US" sz="1800" dirty="0"/>
          </a:p>
        </p:txBody>
      </p:sp>
      <p:sp>
        <p:nvSpPr>
          <p:cNvPr id="56" name="diagnostic-body"/>
          <p:cNvSpPr/>
          <p:nvPr/>
        </p:nvSpPr>
        <p:spPr>
          <a:xfrm>
            <a:off x="7119663" y="5198165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Diagnostic only; excluded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Shapley inputs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legend-causal-swatch"/>
          <p:cNvSpPr/>
          <p:nvPr/>
        </p:nvSpPr>
        <p:spPr>
          <a:xfrm>
            <a:off x="1328463" y="6049065"/>
            <a:ext cx="254000" cy="203200"/>
          </a:xfrm>
          <a:prstGeom prst="roundRect">
            <a:avLst>
              <a:gd name="adj" fmla="val 18750"/>
            </a:avLst>
          </a:prstGeom>
          <a:solidFill>
            <a:srgbClr val="E8F0F8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59" name="legend-causal-text"/>
          <p:cNvSpPr/>
          <p:nvPr/>
        </p:nvSpPr>
        <p:spPr>
          <a:xfrm>
            <a:off x="1658663" y="6013057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/>
              <a:t>Analysis stage</a:t>
            </a:r>
            <a:endParaRPr lang="en-US" dirty="0"/>
          </a:p>
        </p:txBody>
      </p:sp>
      <p:sp>
        <p:nvSpPr>
          <p:cNvPr id="60" name="legend-factor-swatch"/>
          <p:cNvSpPr/>
          <p:nvPr/>
        </p:nvSpPr>
        <p:spPr>
          <a:xfrm>
            <a:off x="3794041" y="6049065"/>
            <a:ext cx="254000" cy="203200"/>
          </a:xfrm>
          <a:prstGeom prst="roundRect">
            <a:avLst>
              <a:gd name="adj" fmla="val 18750"/>
            </a:avLst>
          </a:prstGeom>
          <a:solidFill>
            <a:srgbClr val="EEF7E9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61" name="legend-factor-text"/>
          <p:cNvSpPr/>
          <p:nvPr/>
        </p:nvSpPr>
        <p:spPr>
          <a:xfrm>
            <a:off x="4122463" y="6013057"/>
            <a:ext cx="289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/>
              <a:t>Controlled factor</a:t>
            </a:r>
            <a:endParaRPr lang="en-US" sz="1500" dirty="0"/>
          </a:p>
        </p:txBody>
      </p:sp>
      <p:sp>
        <p:nvSpPr>
          <p:cNvPr id="62" name="legend-diagnostic-swatch"/>
          <p:cNvSpPr/>
          <p:nvPr/>
        </p:nvSpPr>
        <p:spPr>
          <a:xfrm>
            <a:off x="6573563" y="6049065"/>
            <a:ext cx="254000" cy="203200"/>
          </a:xfrm>
          <a:prstGeom prst="roundRect">
            <a:avLst>
              <a:gd name="adj" fmla="val 18750"/>
            </a:avLst>
          </a:prstGeom>
          <a:solidFill>
            <a:srgbClr val="F0F0F0"/>
          </a:solidFill>
          <a:ln w="12700">
            <a:solidFill>
              <a:srgbClr val="9AA6B2"/>
            </a:solidFill>
            <a:prstDash val="dash"/>
          </a:ln>
        </p:spPr>
      </p:sp>
      <p:sp>
        <p:nvSpPr>
          <p:cNvPr id="63" name="legend-diagnostic-text"/>
          <p:cNvSpPr/>
          <p:nvPr/>
        </p:nvSpPr>
        <p:spPr>
          <a:xfrm>
            <a:off x="6959471" y="6013057"/>
            <a:ext cx="2768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/>
              <a:t>Diagnostic check</a:t>
            </a:r>
            <a:endParaRPr lang="en-US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2C5992E-FA65-4A75-A3AC-C7806E69A4A5}"/>
              </a:ext>
            </a:extLst>
          </p:cNvPr>
          <p:cNvCxnSpPr>
            <a:cxnSpLocks/>
            <a:stCxn id="25" idx="3"/>
            <a:endCxn id="28" idx="3"/>
          </p:cNvCxnSpPr>
          <p:nvPr/>
        </p:nvCxnSpPr>
        <p:spPr>
          <a:xfrm>
            <a:off x="8944573" y="1753155"/>
            <a:ext cx="12700" cy="1543592"/>
          </a:xfrm>
          <a:prstGeom prst="bentConnector3">
            <a:avLst>
              <a:gd name="adj1" fmla="val 1162024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78245C8-164D-4789-95E4-21D7EE46E87B}"/>
              </a:ext>
            </a:extLst>
          </p:cNvPr>
          <p:cNvCxnSpPr>
            <a:cxnSpLocks/>
          </p:cNvCxnSpPr>
          <p:nvPr/>
        </p:nvCxnSpPr>
        <p:spPr>
          <a:xfrm>
            <a:off x="9085657" y="2455971"/>
            <a:ext cx="151283" cy="664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135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Evaluation Pipeline and Diagnostic Checks</dc:title>
  <dc:subject>Causal Evaluation Pipeline and Diagnostic Checks</dc:subject>
  <dc:creator>Manus</dc:creator>
  <cp:lastModifiedBy>Ashabul Yamin</cp:lastModifiedBy>
  <cp:revision>12</cp:revision>
  <dcterms:created xsi:type="dcterms:W3CDTF">2026-08-20T16:00:44Z</dcterms:created>
  <dcterms:modified xsi:type="dcterms:W3CDTF">2026-08-23T13:05:26Z</dcterms:modified>
</cp:coreProperties>
</file>