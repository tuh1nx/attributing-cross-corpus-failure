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6256000" cy="9144000"/>
  <p:notesSz cx="9144000" cy="16256000"/>
  <p:embeddedFontLst>
    <p:embeddedFont>
      <p:font typeface="Source Sans 3" charset="-122" pitchFamily="34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connector-1"/>
          <p:cNvSpPr/>
          <p:nvPr/>
        </p:nvSpPr>
        <p:spPr>
          <a:xfrm>
            <a:off x="5334000" y="3175000"/>
            <a:ext cx="508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3" name="top-connector-2"/>
          <p:cNvSpPr/>
          <p:nvPr/>
        </p:nvSpPr>
        <p:spPr>
          <a:xfrm>
            <a:off x="10414000" y="3175000"/>
            <a:ext cx="508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4" name="vertical-connector"/>
          <p:cNvSpPr/>
          <p:nvPr/>
        </p:nvSpPr>
        <p:spPr>
          <a:xfrm>
            <a:off x="13208000" y="4445000"/>
            <a:ext cx="9144" cy="6985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5" name="bottom-connector-1"/>
          <p:cNvSpPr/>
          <p:nvPr/>
        </p:nvSpPr>
        <p:spPr>
          <a:xfrm flipH="1">
            <a:off x="10414000" y="6413500"/>
            <a:ext cx="508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6" name="bottom-connector-2"/>
          <p:cNvSpPr/>
          <p:nvPr/>
        </p:nvSpPr>
        <p:spPr>
          <a:xfrm flipH="1">
            <a:off x="5334000" y="6413500"/>
            <a:ext cx="508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7" name="figure-title"/>
          <p:cNvSpPr/>
          <p:nvPr/>
        </p:nvSpPr>
        <p:spPr>
          <a:xfrm>
            <a:off x="762000" y="508000"/>
            <a:ext cx="1473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3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ShiftLens: From controlled shifts to evidence-gated attribution</a:t>
            </a:r>
            <a:endParaRPr lang="en-US" sz="3300" dirty="0"/>
          </a:p>
        </p:txBody>
      </p:sp>
      <p:sp>
        <p:nvSpPr>
          <p:cNvPr id="8" name="figure-subtitle"/>
          <p:cNvSpPr/>
          <p:nvPr/>
        </p:nvSpPr>
        <p:spPr>
          <a:xfrm>
            <a:off x="762000" y="11557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reproducible two-factor protocol for cross-corpus hate-speech evaluation and cautious causal claims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762000" y="19050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0" name="badge-1"/>
          <p:cNvSpPr/>
          <p:nvPr/>
        </p:nvSpPr>
        <p:spPr>
          <a:xfrm>
            <a:off x="1041400" y="21717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11" name="badge-1-text"/>
          <p:cNvSpPr/>
          <p:nvPr/>
        </p:nvSpPr>
        <p:spPr>
          <a:xfrm>
            <a:off x="1041400" y="21717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ard-1-title"/>
          <p:cNvSpPr/>
          <p:nvPr/>
        </p:nvSpPr>
        <p:spPr>
          <a:xfrm>
            <a:off x="1651000" y="21463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CORPUS SCREENING</a:t>
            </a:r>
            <a:endParaRPr lang="en-US" sz="2100" dirty="0"/>
          </a:p>
        </p:txBody>
      </p:sp>
      <p:sp>
        <p:nvSpPr>
          <p:cNvPr id="13" name="card-1-body"/>
          <p:cNvSpPr/>
          <p:nvPr/>
        </p:nvSpPr>
        <p:spPr>
          <a:xfrm>
            <a:off x="1041400" y="2781300"/>
            <a:ext cx="38735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Anchor: YouTube-BN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Targets: BD-SHS · HateXplain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 provenance and label quality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Exclude unreliable labels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5842000" y="19050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5" name="badge-2"/>
          <p:cNvSpPr/>
          <p:nvPr/>
        </p:nvSpPr>
        <p:spPr>
          <a:xfrm>
            <a:off x="6121400" y="21717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16" name="badge-2-text"/>
          <p:cNvSpPr/>
          <p:nvPr/>
        </p:nvSpPr>
        <p:spPr>
          <a:xfrm>
            <a:off x="6121400" y="21717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card-2-title"/>
          <p:cNvSpPr/>
          <p:nvPr/>
        </p:nvSpPr>
        <p:spPr>
          <a:xfrm>
            <a:off x="6731000" y="21463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LEAKAGE CONTROLS</a:t>
            </a:r>
            <a:endParaRPr lang="en-US" sz="2100" dirty="0"/>
          </a:p>
        </p:txBody>
      </p:sp>
      <p:sp>
        <p:nvSpPr>
          <p:cNvPr id="18" name="card-2-body"/>
          <p:cNvSpPr/>
          <p:nvPr/>
        </p:nvSpPr>
        <p:spPr>
          <a:xfrm>
            <a:off x="6121400" y="2781300"/>
            <a:ext cx="38735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Normalize text and labels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 duplicates and corpus overlap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disjoint data pools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Preserve class priors and n</a:t>
            </a:r>
            <a:endParaRPr lang="en-US" sz="1800" dirty="0"/>
          </a:p>
        </p:txBody>
      </p:sp>
      <p:sp>
        <p:nvSpPr>
          <p:cNvPr id="19" name="card-3"/>
          <p:cNvSpPr/>
          <p:nvPr/>
        </p:nvSpPr>
        <p:spPr>
          <a:xfrm>
            <a:off x="10922000" y="19050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FCEBC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0" name="badge-3"/>
          <p:cNvSpPr/>
          <p:nvPr/>
        </p:nvSpPr>
        <p:spPr>
          <a:xfrm>
            <a:off x="11201400" y="21717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21" name="badge-3-text"/>
          <p:cNvSpPr/>
          <p:nvPr/>
        </p:nvSpPr>
        <p:spPr>
          <a:xfrm>
            <a:off x="11201400" y="21717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card-3-title"/>
          <p:cNvSpPr/>
          <p:nvPr/>
        </p:nvSpPr>
        <p:spPr>
          <a:xfrm>
            <a:off x="11811000" y="21463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CONTROLLED SHIFTS</a:t>
            </a:r>
            <a:endParaRPr lang="en-US" sz="2100" dirty="0"/>
          </a:p>
        </p:txBody>
      </p:sp>
      <p:sp>
        <p:nvSpPr>
          <p:cNvPr id="23" name="card-3-body"/>
          <p:cNvSpPr/>
          <p:nvPr/>
        </p:nvSpPr>
        <p:spPr>
          <a:xfrm>
            <a:off x="11201400" y="2781300"/>
            <a:ext cx="38735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mixture + annotation protocol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Declared transition matrix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factorial conditions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· content · protocol · joint</a:t>
            </a:r>
            <a:endParaRPr lang="en-US" sz="1800" dirty="0"/>
          </a:p>
        </p:txBody>
      </p:sp>
      <p:sp>
        <p:nvSpPr>
          <p:cNvPr id="24" name="card-4"/>
          <p:cNvSpPr/>
          <p:nvPr/>
        </p:nvSpPr>
        <p:spPr>
          <a:xfrm>
            <a:off x="10922000" y="51435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E7F3EA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5" name="badge-4"/>
          <p:cNvSpPr/>
          <p:nvPr/>
        </p:nvSpPr>
        <p:spPr>
          <a:xfrm>
            <a:off x="11201400" y="54102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26" name="badge-4-text"/>
          <p:cNvSpPr/>
          <p:nvPr/>
        </p:nvSpPr>
        <p:spPr>
          <a:xfrm>
            <a:off x="11201400" y="54102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card-4-title"/>
          <p:cNvSpPr/>
          <p:nvPr/>
        </p:nvSpPr>
        <p:spPr>
          <a:xfrm>
            <a:off x="11811000" y="53848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MODEL PANEL</a:t>
            </a:r>
            <a:endParaRPr lang="en-US" sz="2100" dirty="0"/>
          </a:p>
        </p:txBody>
      </p:sp>
      <p:sp>
        <p:nvSpPr>
          <p:cNvPr id="28" name="card-4-body"/>
          <p:cNvSpPr/>
          <p:nvPr/>
        </p:nvSpPr>
        <p:spPr>
          <a:xfrm>
            <a:off x="11201400" y="6019800"/>
            <a:ext cx="3937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Majority · TF–IDF + LR · ERM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XLM-R · DANN · CORAL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Protocol-corrected variants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models × 4 cells × 5 seeds = 120</a:t>
            </a:r>
            <a:endParaRPr lang="en-US" sz="1800" dirty="0"/>
          </a:p>
        </p:txBody>
      </p:sp>
      <p:sp>
        <p:nvSpPr>
          <p:cNvPr id="29" name="card-5"/>
          <p:cNvSpPr/>
          <p:nvPr/>
        </p:nvSpPr>
        <p:spPr>
          <a:xfrm>
            <a:off x="5842000" y="51435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E7F3EA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0" name="badge-5"/>
          <p:cNvSpPr/>
          <p:nvPr/>
        </p:nvSpPr>
        <p:spPr>
          <a:xfrm>
            <a:off x="6121400" y="54102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31" name="badge-5-text"/>
          <p:cNvSpPr/>
          <p:nvPr/>
        </p:nvSpPr>
        <p:spPr>
          <a:xfrm>
            <a:off x="6121400" y="54102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card-5-title"/>
          <p:cNvSpPr/>
          <p:nvPr/>
        </p:nvSpPr>
        <p:spPr>
          <a:xfrm>
            <a:off x="6731000" y="53848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HELD-OUT EVALUATION</a:t>
            </a:r>
            <a:endParaRPr lang="en-US" sz="2100" dirty="0"/>
          </a:p>
        </p:txBody>
      </p:sp>
      <p:sp>
        <p:nvSpPr>
          <p:cNvPr id="33" name="card-5-body"/>
          <p:cNvSpPr/>
          <p:nvPr/>
        </p:nvSpPr>
        <p:spPr>
          <a:xfrm>
            <a:off x="6121400" y="6019800"/>
            <a:ext cx="38735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Macro-F1 · AUROC · AUPRC · ECE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Exact two-factor Shapley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effects + interaction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Seed intervals + paired tests</a:t>
            </a:r>
            <a:endParaRPr lang="en-US" sz="1800" dirty="0"/>
          </a:p>
        </p:txBody>
      </p:sp>
      <p:sp>
        <p:nvSpPr>
          <p:cNvPr id="34" name="card-6"/>
          <p:cNvSpPr/>
          <p:nvPr/>
        </p:nvSpPr>
        <p:spPr>
          <a:xfrm>
            <a:off x="762000" y="5143500"/>
            <a:ext cx="4572000" cy="2540000"/>
          </a:xfrm>
          <a:prstGeom prst="roundRect">
            <a:avLst>
              <a:gd name="adj" fmla="val 4000"/>
            </a:avLst>
          </a:prstGeom>
          <a:solidFill>
            <a:srgbClr val="EDE8F5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5" name="badge-6"/>
          <p:cNvSpPr/>
          <p:nvPr/>
        </p:nvSpPr>
        <p:spPr>
          <a:xfrm>
            <a:off x="1041400" y="5410200"/>
            <a:ext cx="431800" cy="431800"/>
          </a:xfrm>
          <a:prstGeom prst="ellipse">
            <a:avLst/>
          </a:prstGeom>
          <a:solidFill>
            <a:srgbClr val="15294B"/>
          </a:solidFill>
          <a:ln/>
        </p:spPr>
      </p:sp>
      <p:sp>
        <p:nvSpPr>
          <p:cNvPr id="36" name="badge-6-text"/>
          <p:cNvSpPr/>
          <p:nvPr/>
        </p:nvSpPr>
        <p:spPr>
          <a:xfrm>
            <a:off x="1041400" y="5410200"/>
            <a:ext cx="43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card-6-title"/>
          <p:cNvSpPr/>
          <p:nvPr/>
        </p:nvSpPr>
        <p:spPr>
          <a:xfrm>
            <a:off x="1651000" y="5384800"/>
            <a:ext cx="330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EVIDENCE GATE</a:t>
            </a:r>
            <a:endParaRPr lang="en-US" sz="2100" dirty="0"/>
          </a:p>
        </p:txBody>
      </p:sp>
      <p:sp>
        <p:nvSpPr>
          <p:cNvPr id="38" name="card-6-body"/>
          <p:cNvSpPr/>
          <p:nvPr/>
        </p:nvSpPr>
        <p:spPr>
          <a:xfrm>
            <a:off x="1041400" y="6019800"/>
            <a:ext cx="38735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factorial coverage required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 multi-seed uncertainty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Separate causal attribution</a:t>
            </a:r>
            <a:endParaRPr lang="en-US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diagnostic robustness evidence</a:t>
            </a:r>
            <a:endParaRPr lang="en-US" sz="1800" dirty="0"/>
          </a:p>
        </p:txBody>
      </p:sp>
      <p:sp>
        <p:nvSpPr>
          <p:cNvPr id="39" name="footer-rule"/>
          <p:cNvSpPr/>
          <p:nvPr/>
        </p:nvSpPr>
        <p:spPr>
          <a:xfrm>
            <a:off x="762000" y="8153400"/>
            <a:ext cx="14732000" cy="9144"/>
          </a:xfrm>
          <a:prstGeom prst="line">
            <a:avLst/>
          </a:prstGeom>
          <a:ln w="12700">
            <a:solidFill>
              <a:srgbClr val="CCD5DF"/>
            </a:solidFill>
            <a:prstDash val="solid"/>
          </a:ln>
        </p:spPr>
      </p:sp>
      <p:sp>
        <p:nvSpPr>
          <p:cNvPr id="40" name="footer-note"/>
          <p:cNvSpPr/>
          <p:nvPr/>
        </p:nvSpPr>
        <p:spPr>
          <a:xfrm>
            <a:off x="762000" y="83566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Causal claims require factorial coverage, randomization-based testing, and uncertainty reporting.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-title"/>
          <p:cNvSpPr/>
          <p:nvPr/>
        </p:nvSpPr>
        <p:spPr>
          <a:xfrm>
            <a:off x="762000" y="431800"/>
            <a:ext cx="147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Controlled two-factor shifts support evidence-gated attribution</a:t>
            </a:r>
            <a:endParaRPr lang="en-US" sz="3200" dirty="0"/>
          </a:p>
        </p:txBody>
      </p:sp>
      <p:sp>
        <p:nvSpPr>
          <p:cNvPr id="3" name="figure-subtitle"/>
          <p:cNvSpPr/>
          <p:nvPr/>
        </p:nvSpPr>
        <p:spPr>
          <a:xfrm>
            <a:off x="762000" y="1016000"/>
            <a:ext cx="147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factorial path supports causal attribution; external stress tests remain diagnostic evidence only.</a:t>
            </a:r>
            <a:endParaRPr lang="en-US" sz="1800" dirty="0"/>
          </a:p>
        </p:txBody>
      </p:sp>
      <p:sp>
        <p:nvSpPr>
          <p:cNvPr id="4" name="title-rule"/>
          <p:cNvSpPr/>
          <p:nvPr/>
        </p:nvSpPr>
        <p:spPr>
          <a:xfrm>
            <a:off x="762000" y="1460500"/>
            <a:ext cx="14732000" cy="9144"/>
          </a:xfrm>
          <a:prstGeom prst="line">
            <a:avLst/>
          </a:prstGeom>
          <a:ln w="12700">
            <a:solidFill>
              <a:srgbClr val="CCD5DF"/>
            </a:solidFill>
            <a:prstDash val="solid"/>
          </a:ln>
        </p:spPr>
      </p:sp>
      <p:sp>
        <p:nvSpPr>
          <p:cNvPr id="5" name="causal-path-label"/>
          <p:cNvSpPr/>
          <p:nvPr/>
        </p:nvSpPr>
        <p:spPr>
          <a:xfrm>
            <a:off x="762000" y="1587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CAUSAL FACTORIAL PATH</a:t>
            </a:r>
            <a:endParaRPr lang="en-US" sz="1600" dirty="0"/>
          </a:p>
        </p:txBody>
      </p:sp>
      <p:sp>
        <p:nvSpPr>
          <p:cNvPr id="6" name="causal-connector-1"/>
          <p:cNvSpPr/>
          <p:nvPr/>
        </p:nvSpPr>
        <p:spPr>
          <a:xfrm>
            <a:off x="3048000" y="2730500"/>
            <a:ext cx="5715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7" name="causal-connector-2"/>
          <p:cNvSpPr/>
          <p:nvPr/>
        </p:nvSpPr>
        <p:spPr>
          <a:xfrm>
            <a:off x="5905500" y="2730500"/>
            <a:ext cx="5715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8" name="factor-connector-a"/>
          <p:cNvSpPr/>
          <p:nvPr/>
        </p:nvSpPr>
        <p:spPr>
          <a:xfrm flipV="1">
            <a:off x="8890000" y="2082800"/>
            <a:ext cx="635000" cy="2540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9" name="factor-connector-b"/>
          <p:cNvSpPr/>
          <p:nvPr/>
        </p:nvSpPr>
        <p:spPr>
          <a:xfrm>
            <a:off x="8890000" y="3149600"/>
            <a:ext cx="635000" cy="3302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0" name="factor-a-to-cells"/>
          <p:cNvSpPr/>
          <p:nvPr/>
        </p:nvSpPr>
        <p:spPr>
          <a:xfrm>
            <a:off x="11811000" y="2082800"/>
            <a:ext cx="635000" cy="5207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1" name="factor-b-to-cells"/>
          <p:cNvSpPr/>
          <p:nvPr/>
        </p:nvSpPr>
        <p:spPr>
          <a:xfrm flipV="1">
            <a:off x="11811000" y="3111500"/>
            <a:ext cx="635000" cy="3683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2" name="cells-to-models"/>
          <p:cNvSpPr/>
          <p:nvPr/>
        </p:nvSpPr>
        <p:spPr>
          <a:xfrm>
            <a:off x="13970000" y="3467100"/>
            <a:ext cx="9144" cy="1168400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3" name="model-to-eval"/>
          <p:cNvSpPr/>
          <p:nvPr/>
        </p:nvSpPr>
        <p:spPr>
          <a:xfrm flipH="1">
            <a:off x="11811000" y="5334000"/>
            <a:ext cx="635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4" name="eval-to-shapley"/>
          <p:cNvSpPr/>
          <p:nvPr/>
        </p:nvSpPr>
        <p:spPr>
          <a:xfrm flipH="1">
            <a:off x="8255000" y="5334000"/>
            <a:ext cx="635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5" name="shapley-to-gate"/>
          <p:cNvSpPr/>
          <p:nvPr/>
        </p:nvSpPr>
        <p:spPr>
          <a:xfrm flipH="1">
            <a:off x="4699000" y="5334000"/>
            <a:ext cx="6350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  <a:tailEnd type="triangle"/>
          </a:ln>
        </p:spPr>
      </p:sp>
      <p:sp>
        <p:nvSpPr>
          <p:cNvPr id="16" name="corpus-card"/>
          <p:cNvSpPr/>
          <p:nvPr/>
        </p:nvSpPr>
        <p:spPr>
          <a:xfrm>
            <a:off x="762000" y="2095500"/>
            <a:ext cx="2286000" cy="1270000"/>
          </a:xfrm>
          <a:prstGeom prst="roundRect">
            <a:avLst>
              <a:gd name="adj" fmla="val 7000"/>
            </a:avLst>
          </a:prstGeom>
          <a:solidFill>
            <a:srgbClr val="E8F0F8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7" name="corpus-title"/>
          <p:cNvSpPr/>
          <p:nvPr/>
        </p:nvSpPr>
        <p:spPr>
          <a:xfrm>
            <a:off x="965200" y="2273300"/>
            <a:ext cx="18796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CORPUS + LABEL AUDIT</a:t>
            </a:r>
            <a:endParaRPr lang="en-US" sz="1800" dirty="0"/>
          </a:p>
        </p:txBody>
      </p:sp>
      <p:sp>
        <p:nvSpPr>
          <p:cNvPr id="18" name="corpus-body"/>
          <p:cNvSpPr/>
          <p:nvPr/>
        </p:nvSpPr>
        <p:spPr>
          <a:xfrm>
            <a:off x="965200" y="2679700"/>
            <a:ext cx="187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Provenance, reliability,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target eligibility</a:t>
            </a:r>
            <a:endParaRPr lang="en-US" sz="1600" dirty="0"/>
          </a:p>
        </p:txBody>
      </p:sp>
      <p:sp>
        <p:nvSpPr>
          <p:cNvPr id="19" name="split-card"/>
          <p:cNvSpPr/>
          <p:nvPr/>
        </p:nvSpPr>
        <p:spPr>
          <a:xfrm>
            <a:off x="3619500" y="2095500"/>
            <a:ext cx="2286000" cy="1270000"/>
          </a:xfrm>
          <a:prstGeom prst="roundRect">
            <a:avLst>
              <a:gd name="adj" fmla="val 7000"/>
            </a:avLst>
          </a:prstGeom>
          <a:solidFill>
            <a:srgbClr val="E8F0F8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0" name="split-title"/>
          <p:cNvSpPr/>
          <p:nvPr/>
        </p:nvSpPr>
        <p:spPr>
          <a:xfrm>
            <a:off x="3822700" y="2273300"/>
            <a:ext cx="18796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DATA POOLS</a:t>
            </a:r>
            <a:endParaRPr lang="en-US" sz="1800" dirty="0"/>
          </a:p>
        </p:txBody>
      </p:sp>
      <p:sp>
        <p:nvSpPr>
          <p:cNvPr id="21" name="split-body"/>
          <p:cNvSpPr/>
          <p:nvPr/>
        </p:nvSpPr>
        <p:spPr>
          <a:xfrm>
            <a:off x="3822700" y="266700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 groups; train / val /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 / test / reserve</a:t>
            </a:r>
            <a:endParaRPr lang="en-US" sz="1600" dirty="0"/>
          </a:p>
        </p:txBody>
      </p:sp>
      <p:sp>
        <p:nvSpPr>
          <p:cNvPr id="22" name="intervention-diamond"/>
          <p:cNvSpPr/>
          <p:nvPr/>
        </p:nvSpPr>
        <p:spPr>
          <a:xfrm>
            <a:off x="6477000" y="1841500"/>
            <a:ext cx="2413000" cy="1778000"/>
          </a:xfrm>
          <a:prstGeom prst="diamond">
            <a:avLst/>
          </a:prstGeom>
          <a:solidFill>
            <a:srgbClr val="FCEBC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3" name="intervention-title"/>
          <p:cNvSpPr/>
          <p:nvPr/>
        </p:nvSpPr>
        <p:spPr>
          <a:xfrm>
            <a:off x="6807200" y="2286000"/>
            <a:ext cx="1752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DECLARED</a:t>
            </a:r>
            <a:endParaRPr lang="en-US" sz="1900" dirty="0"/>
          </a:p>
          <a:p>
            <a:pPr algn="ctr" indent="0" marL="0">
              <a:buNone/>
            </a:pPr>
            <a:r>
              <a:rPr lang="en-US" altLang="en-US" sz="19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× 2 SHIFT</a:t>
            </a:r>
            <a:endParaRPr lang="en-US" sz="1900" dirty="0"/>
          </a:p>
        </p:txBody>
      </p:sp>
      <p:sp>
        <p:nvSpPr>
          <p:cNvPr id="24" name="intervention-body"/>
          <p:cNvSpPr/>
          <p:nvPr/>
        </p:nvSpPr>
        <p:spPr>
          <a:xfrm>
            <a:off x="6959600" y="2870200"/>
            <a:ext cx="1447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controlled factors;</a:t>
            </a:r>
            <a:endParaRPr lang="en-US" sz="150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decision rule</a:t>
            </a:r>
            <a:endParaRPr lang="en-US" sz="1500" dirty="0"/>
          </a:p>
        </p:txBody>
      </p:sp>
      <p:sp>
        <p:nvSpPr>
          <p:cNvPr id="25" name="content-factor-card"/>
          <p:cNvSpPr/>
          <p:nvPr/>
        </p:nvSpPr>
        <p:spPr>
          <a:xfrm>
            <a:off x="9525000" y="1651000"/>
            <a:ext cx="2286000" cy="863600"/>
          </a:xfrm>
          <a:prstGeom prst="roundRect">
            <a:avLst>
              <a:gd name="adj" fmla="val 10294"/>
            </a:avLst>
          </a:prstGeom>
          <a:solidFill>
            <a:srgbClr val="FCEBC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6" name="content-factor-text"/>
          <p:cNvSpPr/>
          <p:nvPr/>
        </p:nvSpPr>
        <p:spPr>
          <a:xfrm>
            <a:off x="9690100" y="17907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altLang="en-US" sz="1600" b="1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MIXTURE</a:t>
            </a:r>
            <a:endParaRPr lang="en-US" sz="1600" dirty="0"/>
          </a:p>
          <a:p>
            <a:pPr algn="ctr" indent="0" marL="0">
              <a:lnSpc>
                <a:spcPts val="1872"/>
              </a:lnSpc>
              <a:buNone/>
            </a:pPr>
            <a:r>
              <a:rPr lang="en-US" altLang="en-US" sz="16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Reserve-pool composition</a:t>
            </a:r>
            <a:endParaRPr lang="en-US" sz="1600" dirty="0"/>
          </a:p>
        </p:txBody>
      </p:sp>
      <p:sp>
        <p:nvSpPr>
          <p:cNvPr id="27" name="protocol-factor-card"/>
          <p:cNvSpPr/>
          <p:nvPr/>
        </p:nvSpPr>
        <p:spPr>
          <a:xfrm>
            <a:off x="9525000" y="3048000"/>
            <a:ext cx="2286000" cy="863600"/>
          </a:xfrm>
          <a:prstGeom prst="roundRect">
            <a:avLst>
              <a:gd name="adj" fmla="val 10294"/>
            </a:avLst>
          </a:prstGeom>
          <a:solidFill>
            <a:srgbClr val="FCEBC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8" name="protocol-factor-text"/>
          <p:cNvSpPr/>
          <p:nvPr/>
        </p:nvSpPr>
        <p:spPr>
          <a:xfrm>
            <a:off x="9690100" y="31877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altLang="en-US" sz="1600" b="1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ANNOTATION PROTOCOL</a:t>
            </a:r>
            <a:endParaRPr lang="en-US" sz="1600" dirty="0"/>
          </a:p>
          <a:p>
            <a:pPr algn="ctr" indent="0" marL="0">
              <a:lnSpc>
                <a:spcPts val="1872"/>
              </a:lnSpc>
              <a:buNone/>
            </a:pPr>
            <a:r>
              <a:rPr lang="en-US" altLang="en-US" sz="16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Transition matrix T</a:t>
            </a:r>
            <a:endParaRPr lang="en-US" sz="1600" dirty="0"/>
          </a:p>
        </p:txBody>
      </p:sp>
      <p:sp>
        <p:nvSpPr>
          <p:cNvPr id="29" name="cells-card"/>
          <p:cNvSpPr/>
          <p:nvPr/>
        </p:nvSpPr>
        <p:spPr>
          <a:xfrm>
            <a:off x="12446000" y="2349500"/>
            <a:ext cx="3048000" cy="1117600"/>
          </a:xfrm>
          <a:prstGeom prst="roundRect">
            <a:avLst>
              <a:gd name="adj" fmla="val 7955"/>
            </a:avLst>
          </a:prstGeom>
          <a:solidFill>
            <a:srgbClr val="FCEBC9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0" name="cells-title"/>
          <p:cNvSpPr/>
          <p:nvPr/>
        </p:nvSpPr>
        <p:spPr>
          <a:xfrm>
            <a:off x="12649200" y="2501900"/>
            <a:ext cx="26416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FACTORIAL CELLS</a:t>
            </a:r>
            <a:endParaRPr lang="en-US" sz="1800" dirty="0"/>
          </a:p>
        </p:txBody>
      </p:sp>
      <p:sp>
        <p:nvSpPr>
          <p:cNvPr id="31" name="cells-body"/>
          <p:cNvSpPr/>
          <p:nvPr/>
        </p:nvSpPr>
        <p:spPr>
          <a:xfrm>
            <a:off x="12649200" y="2908300"/>
            <a:ext cx="264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· content-only</a:t>
            </a:r>
            <a:endParaRPr lang="en-US" sz="150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protocol-only · joint</a:t>
            </a:r>
            <a:endParaRPr lang="en-US" sz="1500" dirty="0"/>
          </a:p>
        </p:txBody>
      </p:sp>
      <p:sp>
        <p:nvSpPr>
          <p:cNvPr id="32" name="model-card"/>
          <p:cNvSpPr/>
          <p:nvPr/>
        </p:nvSpPr>
        <p:spPr>
          <a:xfrm>
            <a:off x="12446000" y="4635500"/>
            <a:ext cx="3048000" cy="1397000"/>
          </a:xfrm>
          <a:prstGeom prst="roundRect">
            <a:avLst>
              <a:gd name="adj" fmla="val 6364"/>
            </a:avLst>
          </a:prstGeom>
          <a:solidFill>
            <a:srgbClr val="E7F3EA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3" name="model-title"/>
          <p:cNvSpPr/>
          <p:nvPr/>
        </p:nvSpPr>
        <p:spPr>
          <a:xfrm>
            <a:off x="12649200" y="4813300"/>
            <a:ext cx="264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PANEL</a:t>
            </a:r>
            <a:endParaRPr lang="en-US" sz="1800" dirty="0"/>
          </a:p>
        </p:txBody>
      </p:sp>
      <p:sp>
        <p:nvSpPr>
          <p:cNvPr id="34" name="model-body"/>
          <p:cNvSpPr/>
          <p:nvPr/>
        </p:nvSpPr>
        <p:spPr>
          <a:xfrm>
            <a:off x="12649200" y="5219700"/>
            <a:ext cx="26416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model arms × 5 seeds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120 expected runs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Source-only checkpoints</a:t>
            </a:r>
            <a:endParaRPr lang="en-US" sz="1600" dirty="0"/>
          </a:p>
        </p:txBody>
      </p:sp>
      <p:sp>
        <p:nvSpPr>
          <p:cNvPr id="35" name="evaluation-card"/>
          <p:cNvSpPr/>
          <p:nvPr/>
        </p:nvSpPr>
        <p:spPr>
          <a:xfrm>
            <a:off x="8890000" y="4635500"/>
            <a:ext cx="2921000" cy="1397000"/>
          </a:xfrm>
          <a:prstGeom prst="roundRect">
            <a:avLst>
              <a:gd name="adj" fmla="val 6364"/>
            </a:avLst>
          </a:prstGeom>
          <a:solidFill>
            <a:srgbClr val="E7F3EA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6" name="evaluation-title"/>
          <p:cNvSpPr/>
          <p:nvPr/>
        </p:nvSpPr>
        <p:spPr>
          <a:xfrm>
            <a:off x="9093200" y="4813300"/>
            <a:ext cx="2514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HELD-OUT EVALUATION</a:t>
            </a:r>
            <a:endParaRPr lang="en-US" sz="1800" dirty="0"/>
          </a:p>
        </p:txBody>
      </p:sp>
      <p:sp>
        <p:nvSpPr>
          <p:cNvPr id="37" name="evaluation-body"/>
          <p:cNvSpPr/>
          <p:nvPr/>
        </p:nvSpPr>
        <p:spPr>
          <a:xfrm>
            <a:off x="9093200" y="5219700"/>
            <a:ext cx="25146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Macro-F1 · AUROC · AUPRC · ECE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Calibration and robustness grid</a:t>
            </a:r>
            <a:endParaRPr lang="en-US" sz="1600" dirty="0"/>
          </a:p>
        </p:txBody>
      </p:sp>
      <p:sp>
        <p:nvSpPr>
          <p:cNvPr id="38" name="shapley-card"/>
          <p:cNvSpPr/>
          <p:nvPr/>
        </p:nvSpPr>
        <p:spPr>
          <a:xfrm>
            <a:off x="5334000" y="4635500"/>
            <a:ext cx="2921000" cy="1397000"/>
          </a:xfrm>
          <a:prstGeom prst="roundRect">
            <a:avLst>
              <a:gd name="adj" fmla="val 6364"/>
            </a:avLst>
          </a:prstGeom>
          <a:solidFill>
            <a:srgbClr val="EDE8F5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39" name="shapley-title"/>
          <p:cNvSpPr/>
          <p:nvPr/>
        </p:nvSpPr>
        <p:spPr>
          <a:xfrm>
            <a:off x="5537200" y="4813300"/>
            <a:ext cx="2514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EXACT SHAPLEY ATTRIBUTION</a:t>
            </a:r>
            <a:endParaRPr lang="en-US" sz="1800" dirty="0"/>
          </a:p>
        </p:txBody>
      </p:sp>
      <p:sp>
        <p:nvSpPr>
          <p:cNvPr id="40" name="shapley-body"/>
          <p:cNvSpPr/>
          <p:nvPr/>
        </p:nvSpPr>
        <p:spPr>
          <a:xfrm>
            <a:off x="5537200" y="5219700"/>
            <a:ext cx="25146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 effects + interaction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factorial coverage</a:t>
            </a:r>
            <a:endParaRPr lang="en-US" sz="1600" dirty="0"/>
          </a:p>
        </p:txBody>
      </p:sp>
      <p:sp>
        <p:nvSpPr>
          <p:cNvPr id="41" name="gate-card"/>
          <p:cNvSpPr/>
          <p:nvPr/>
        </p:nvSpPr>
        <p:spPr>
          <a:xfrm>
            <a:off x="762000" y="4635500"/>
            <a:ext cx="3937000" cy="1397000"/>
          </a:xfrm>
          <a:prstGeom prst="roundRect">
            <a:avLst>
              <a:gd name="adj" fmla="val 6364"/>
            </a:avLst>
          </a:prstGeom>
          <a:solidFill>
            <a:srgbClr val="EDE8F5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42" name="gate-title"/>
          <p:cNvSpPr/>
          <p:nvPr/>
        </p:nvSpPr>
        <p:spPr>
          <a:xfrm>
            <a:off x="965200" y="4813300"/>
            <a:ext cx="3530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5294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UNCERTAINTY + CLAIM GATE</a:t>
            </a:r>
            <a:endParaRPr lang="en-US" sz="1800" dirty="0"/>
          </a:p>
        </p:txBody>
      </p:sp>
      <p:sp>
        <p:nvSpPr>
          <p:cNvPr id="43" name="gate-body"/>
          <p:cNvSpPr/>
          <p:nvPr/>
        </p:nvSpPr>
        <p:spPr>
          <a:xfrm>
            <a:off x="965200" y="5219700"/>
            <a:ext cx="35306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Seed intervals · paired tests</a:t>
            </a:r>
            <a:endParaRPr lang="en-US" sz="16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Causal claims only when supported</a:t>
            </a:r>
            <a:endParaRPr lang="en-US" sz="1600" dirty="0"/>
          </a:p>
        </p:txBody>
      </p:sp>
      <p:sp>
        <p:nvSpPr>
          <p:cNvPr id="44" name="diagnostic-rule"/>
          <p:cNvSpPr/>
          <p:nvPr/>
        </p:nvSpPr>
        <p:spPr>
          <a:xfrm>
            <a:off x="762000" y="6604000"/>
            <a:ext cx="14732000" cy="9144"/>
          </a:xfrm>
          <a:prstGeom prst="line">
            <a:avLst/>
          </a:prstGeom>
          <a:ln w="12700">
            <a:solidFill>
              <a:srgbClr val="CCD5DF"/>
            </a:solidFill>
            <a:prstDash val="solid"/>
          </a:ln>
        </p:spPr>
      </p:sp>
      <p:sp>
        <p:nvSpPr>
          <p:cNvPr id="45" name="diagnostic-label"/>
          <p:cNvSpPr/>
          <p:nvPr/>
        </p:nvSpPr>
        <p:spPr>
          <a:xfrm>
            <a:off x="762000" y="67310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7A879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DIAGNOSTIC-ONLY BRANCH</a:t>
            </a:r>
            <a:endParaRPr lang="en-US" sz="1600" dirty="0"/>
          </a:p>
        </p:txBody>
      </p:sp>
      <p:sp>
        <p:nvSpPr>
          <p:cNvPr id="46" name="diagnostic-connector-1"/>
          <p:cNvSpPr/>
          <p:nvPr/>
        </p:nvSpPr>
        <p:spPr>
          <a:xfrm>
            <a:off x="3937000" y="7569200"/>
            <a:ext cx="825500" cy="9144"/>
          </a:xfrm>
          <a:prstGeom prst="line">
            <a:avLst/>
          </a:prstGeom>
          <a:ln w="25400">
            <a:solidFill>
              <a:srgbClr val="9AA6B2"/>
            </a:solidFill>
            <a:prstDash val="dash"/>
            <a:tailEnd type="triangle"/>
          </a:ln>
        </p:spPr>
      </p:sp>
      <p:sp>
        <p:nvSpPr>
          <p:cNvPr id="47" name="diagnostic-connector-2"/>
          <p:cNvSpPr/>
          <p:nvPr/>
        </p:nvSpPr>
        <p:spPr>
          <a:xfrm>
            <a:off x="8128000" y="7569200"/>
            <a:ext cx="825500" cy="9144"/>
          </a:xfrm>
          <a:prstGeom prst="line">
            <a:avLst/>
          </a:prstGeom>
          <a:ln w="25400">
            <a:solidFill>
              <a:srgbClr val="9AA6B2"/>
            </a:solidFill>
            <a:prstDash val="dash"/>
            <a:tailEnd type="triangle"/>
          </a:ln>
        </p:spPr>
      </p:sp>
      <p:sp>
        <p:nvSpPr>
          <p:cNvPr id="48" name="external-audit-card"/>
          <p:cNvSpPr/>
          <p:nvPr/>
        </p:nvSpPr>
        <p:spPr>
          <a:xfrm>
            <a:off x="762000" y="7048500"/>
            <a:ext cx="3175000" cy="1041400"/>
          </a:xfrm>
          <a:prstGeom prst="roundRect">
            <a:avLst>
              <a:gd name="adj" fmla="val 8537"/>
            </a:avLst>
          </a:prstGeom>
          <a:solidFill>
            <a:srgbClr val="F3F5F7"/>
          </a:solidFill>
          <a:ln w="12700">
            <a:solidFill>
              <a:srgbClr val="9AA6B2"/>
            </a:solidFill>
            <a:prstDash val="dash"/>
          </a:ln>
        </p:spPr>
      </p:sp>
      <p:sp>
        <p:nvSpPr>
          <p:cNvPr id="49" name="external-audit-title"/>
          <p:cNvSpPr/>
          <p:nvPr/>
        </p:nvSpPr>
        <p:spPr>
          <a:xfrm>
            <a:off x="939800" y="7226300"/>
            <a:ext cx="2819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 AUDIT</a:t>
            </a:r>
            <a:endParaRPr lang="en-US" sz="1700" dirty="0"/>
          </a:p>
        </p:txBody>
      </p:sp>
      <p:sp>
        <p:nvSpPr>
          <p:cNvPr id="50" name="external-audit-body"/>
          <p:cNvSpPr/>
          <p:nvPr/>
        </p:nvSpPr>
        <p:spPr>
          <a:xfrm>
            <a:off x="939800" y="7594600"/>
            <a:ext cx="2819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7A879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 corpus + overlap checks</a:t>
            </a:r>
            <a:endParaRPr lang="en-US" sz="1500" dirty="0"/>
          </a:p>
        </p:txBody>
      </p:sp>
      <p:sp>
        <p:nvSpPr>
          <p:cNvPr id="51" name="stress-card"/>
          <p:cNvSpPr/>
          <p:nvPr/>
        </p:nvSpPr>
        <p:spPr>
          <a:xfrm>
            <a:off x="4762500" y="7048500"/>
            <a:ext cx="3365500" cy="1041400"/>
          </a:xfrm>
          <a:prstGeom prst="roundRect">
            <a:avLst>
              <a:gd name="adj" fmla="val 8537"/>
            </a:avLst>
          </a:prstGeom>
          <a:solidFill>
            <a:srgbClr val="F3F5F7"/>
          </a:solidFill>
          <a:ln w="12700">
            <a:solidFill>
              <a:srgbClr val="9AA6B2"/>
            </a:solidFill>
            <a:prstDash val="dash"/>
          </a:ln>
        </p:spPr>
      </p:sp>
      <p:sp>
        <p:nvSpPr>
          <p:cNvPr id="52" name="stress-title"/>
          <p:cNvSpPr/>
          <p:nvPr/>
        </p:nvSpPr>
        <p:spPr>
          <a:xfrm>
            <a:off x="4940300" y="7226300"/>
            <a:ext cx="3009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DESCRIPTIVE STRESS TESTS</a:t>
            </a:r>
            <a:endParaRPr lang="en-US" sz="1700" dirty="0"/>
          </a:p>
        </p:txBody>
      </p:sp>
      <p:sp>
        <p:nvSpPr>
          <p:cNvPr id="53" name="stress-body"/>
          <p:cNvSpPr/>
          <p:nvPr/>
        </p:nvSpPr>
        <p:spPr>
          <a:xfrm>
            <a:off x="4940300" y="7594600"/>
            <a:ext cx="300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7A879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Robustness evidence only</a:t>
            </a:r>
            <a:endParaRPr lang="en-US" sz="1500" dirty="0"/>
          </a:p>
        </p:txBody>
      </p:sp>
      <p:sp>
        <p:nvSpPr>
          <p:cNvPr id="54" name="diagnostic-evidence-card"/>
          <p:cNvSpPr/>
          <p:nvPr/>
        </p:nvSpPr>
        <p:spPr>
          <a:xfrm>
            <a:off x="8953500" y="7048500"/>
            <a:ext cx="3937000" cy="1041400"/>
          </a:xfrm>
          <a:prstGeom prst="roundRect">
            <a:avLst>
              <a:gd name="adj" fmla="val 8537"/>
            </a:avLst>
          </a:prstGeom>
          <a:solidFill>
            <a:srgbClr val="F3F5F7"/>
          </a:solidFill>
          <a:ln w="12700">
            <a:solidFill>
              <a:srgbClr val="9AA6B2"/>
            </a:solidFill>
            <a:prstDash val="dash"/>
          </a:ln>
        </p:spPr>
      </p:sp>
      <p:sp>
        <p:nvSpPr>
          <p:cNvPr id="55" name="diagnostic-evidence-title"/>
          <p:cNvSpPr/>
          <p:nvPr/>
        </p:nvSpPr>
        <p:spPr>
          <a:xfrm>
            <a:off x="9131300" y="7226300"/>
            <a:ext cx="3581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EVIDENCE</a:t>
            </a:r>
            <a:endParaRPr lang="en-US" sz="1700" dirty="0"/>
          </a:p>
        </p:txBody>
      </p:sp>
      <p:sp>
        <p:nvSpPr>
          <p:cNvPr id="56" name="diagnostic-evidence-body"/>
          <p:cNvSpPr/>
          <p:nvPr/>
        </p:nvSpPr>
        <p:spPr>
          <a:xfrm>
            <a:off x="9131300" y="7594600"/>
            <a:ext cx="3581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altLang="en-US" sz="1500" dirty="0">
                <a:solidFill>
                  <a:srgbClr val="7A879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part of the causal factor set</a:t>
            </a:r>
            <a:endParaRPr lang="en-US" sz="1500" dirty="0"/>
          </a:p>
        </p:txBody>
      </p:sp>
      <p:sp>
        <p:nvSpPr>
          <p:cNvPr id="57" name="legend-solid-line"/>
          <p:cNvSpPr/>
          <p:nvPr/>
        </p:nvSpPr>
        <p:spPr>
          <a:xfrm>
            <a:off x="13335000" y="7289800"/>
            <a:ext cx="571500" cy="9144"/>
          </a:xfrm>
          <a:prstGeom prst="line">
            <a:avLst/>
          </a:prstGeom>
          <a:ln w="25400">
            <a:solidFill>
              <a:srgbClr val="15294B"/>
            </a:solidFill>
            <a:prstDash val="solid"/>
          </a:ln>
        </p:spPr>
      </p:sp>
      <p:sp>
        <p:nvSpPr>
          <p:cNvPr id="58" name="legend-solid-text"/>
          <p:cNvSpPr/>
          <p:nvPr/>
        </p:nvSpPr>
        <p:spPr>
          <a:xfrm>
            <a:off x="14008100" y="7150100"/>
            <a:ext cx="148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Causal path</a:t>
            </a:r>
            <a:endParaRPr lang="en-US" sz="1400" dirty="0"/>
          </a:p>
        </p:txBody>
      </p:sp>
      <p:sp>
        <p:nvSpPr>
          <p:cNvPr id="59" name="legend-dash-line"/>
          <p:cNvSpPr/>
          <p:nvPr/>
        </p:nvSpPr>
        <p:spPr>
          <a:xfrm>
            <a:off x="13335000" y="7734300"/>
            <a:ext cx="571500" cy="9144"/>
          </a:xfrm>
          <a:prstGeom prst="line">
            <a:avLst/>
          </a:prstGeom>
          <a:ln w="25400">
            <a:solidFill>
              <a:srgbClr val="9AA6B2"/>
            </a:solidFill>
            <a:prstDash val="dash"/>
          </a:ln>
        </p:spPr>
      </p:sp>
      <p:sp>
        <p:nvSpPr>
          <p:cNvPr id="60" name="legend-dash-text"/>
          <p:cNvSpPr/>
          <p:nvPr/>
        </p:nvSpPr>
        <p:spPr>
          <a:xfrm>
            <a:off x="14008100" y="7594600"/>
            <a:ext cx="148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64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only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ShiftLens: Editable Experimental-Protocol Figures</dc:title>
  <dc:subject>ShiftLens: Editable Experimental-Protocol Figures</dc:subject>
  <dc:creator>Manus</dc:creator>
  <cp:lastModifiedBy>Manus</cp:lastModifiedBy>
  <cp:revision>1</cp:revision>
  <dcterms:created xsi:type="dcterms:W3CDTF">2026-08-20T13:44:03Z</dcterms:created>
  <dcterms:modified xsi:type="dcterms:W3CDTF">2026-08-20T13:44:03Z</dcterms:modified>
</cp:coreProperties>
</file>