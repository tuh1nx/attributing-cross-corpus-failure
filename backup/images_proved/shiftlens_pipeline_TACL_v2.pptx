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4892675"/>
  <p:notesSz cx="489267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94" autoAdjust="0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38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72327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ShiftLens: From Controlled Shifts to Evidence-Gated Attribution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156375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reproducible two-factor protocol for cross-corpus hate-speech evaluation, uncertainty-aware attribution, and claim discipline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175203" y="2602854"/>
            <a:ext cx="164593" cy="128016"/>
          </a:xfrm>
          <a:prstGeom prst="rightArrow">
            <a:avLst/>
          </a:prstGeom>
          <a:solidFill>
            <a:srgbClr val="9AA3B2"/>
          </a:solidFill>
          <a:ln/>
        </p:spPr>
      </p:sp>
      <p:sp>
        <p:nvSpPr>
          <p:cNvPr id="5" name="Shape 3"/>
          <p:cNvSpPr/>
          <p:nvPr/>
        </p:nvSpPr>
        <p:spPr>
          <a:xfrm>
            <a:off x="362536" y="1549021"/>
            <a:ext cx="1776094" cy="2292825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C7CDD9"/>
            </a:solidFill>
            <a:prstDash val="solid"/>
          </a:ln>
          <a:effectLst>
            <a:outerShdw blurRad="76200" dist="25400" dir="5400000" algn="bl" rotWithShape="0">
              <a:srgbClr val="1F2E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1" y="1737360"/>
            <a:ext cx="1763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1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Corpus Intake &amp;</a:t>
            </a:r>
            <a:r>
              <a:rPr lang="en-US" sz="1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1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Reliability</a:t>
            </a:r>
            <a:endParaRPr lang="en-US" sz="11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6072" y="2130006"/>
            <a:ext cx="1397965" cy="166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87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Anchor corpus: YouTube-BN</a:t>
            </a:r>
            <a:endParaRPr lang="en-US" sz="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87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Targets: BD-SHS, HateXplain</a:t>
            </a:r>
            <a:endParaRPr lang="en-US" sz="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87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BengaliHate v1/v2 excluded when labels are unreliable</a:t>
            </a:r>
            <a:endParaRPr lang="en-US" sz="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87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Provenance and label-quality checks required</a:t>
            </a:r>
            <a:endParaRPr lang="en-US" sz="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33764" y="2602854"/>
            <a:ext cx="153054" cy="128016"/>
          </a:xfrm>
          <a:prstGeom prst="rightArrow">
            <a:avLst/>
          </a:prstGeom>
          <a:solidFill>
            <a:srgbClr val="9AA3B2"/>
          </a:solidFill>
          <a:ln/>
        </p:spPr>
      </p:sp>
      <p:sp>
        <p:nvSpPr>
          <p:cNvPr id="11" name="Shape 9"/>
          <p:cNvSpPr/>
          <p:nvPr/>
        </p:nvSpPr>
        <p:spPr>
          <a:xfrm>
            <a:off x="2351335" y="1549021"/>
            <a:ext cx="1752187" cy="2292825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C7CDD9"/>
            </a:solidFill>
            <a:prstDash val="solid"/>
          </a:ln>
          <a:effectLst>
            <a:outerShdw blurRad="76200" dist="25400" dir="5400000" algn="bl" rotWithShape="0">
              <a:srgbClr val="1F2E4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00281" y="1737360"/>
            <a:ext cx="1752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Leakage-Safe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Protocol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04389" y="2130006"/>
            <a:ext cx="1397965" cy="171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Normalize text and label schemas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Audit duplicates and cross-corpus overlap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Five disjoint pools: train / val / adapt / test / reserve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Class prior and sample size preserved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85505" y="2602854"/>
            <a:ext cx="164592" cy="128016"/>
          </a:xfrm>
          <a:prstGeom prst="rightArrow">
            <a:avLst/>
          </a:prstGeom>
          <a:solidFill>
            <a:srgbClr val="9AA3B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68114" y="1549021"/>
            <a:ext cx="1727149" cy="2292825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C7CDD9"/>
            </a:solidFill>
            <a:prstDash val="solid"/>
          </a:ln>
          <a:effectLst>
            <a:outerShdw blurRad="76200" dist="25400" dir="5400000" algn="bl" rotWithShape="0">
              <a:srgbClr val="1F2E4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53636" y="1737360"/>
            <a:ext cx="1569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Controlled Interventions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32706" y="2130006"/>
            <a:ext cx="1397965" cy="171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Content: class-preserving reserve-pool mixture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Protocol: declared transition matrix 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Baseline, content-only, protocol-only, joint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 × 2 factorial, 5 independent seeds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41869" y="2788920"/>
            <a:ext cx="164592" cy="128016"/>
          </a:xfrm>
          <a:prstGeom prst="rightArrow">
            <a:avLst/>
          </a:prstGeom>
          <a:solidFill>
            <a:srgbClr val="9AA3B2"/>
          </a:solidFill>
          <a:ln/>
        </p:spPr>
      </p:sp>
      <p:sp>
        <p:nvSpPr>
          <p:cNvPr id="23" name="Shape 21"/>
          <p:cNvSpPr/>
          <p:nvPr/>
        </p:nvSpPr>
        <p:spPr>
          <a:xfrm>
            <a:off x="6159854" y="1549021"/>
            <a:ext cx="1763727" cy="2292825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C7CDD9"/>
            </a:solidFill>
            <a:prstDash val="solid"/>
          </a:ln>
          <a:effectLst>
            <a:outerShdw blurRad="76200" dist="25400" dir="5400000" algn="bl" rotWithShape="0">
              <a:srgbClr val="1F2E4A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96431" y="1737360"/>
            <a:ext cx="20126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Model Panel &amp; Completeness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61024" y="2130006"/>
            <a:ext cx="1397966" cy="171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Majority, TF-IDF + Logistic Regression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ERM (XLM-R), DANN, CORAL, protocol-corrected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Source-only validation checkpoints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 × 4 × 5 = 120 expected runs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888474" y="2788920"/>
            <a:ext cx="164592" cy="128016"/>
          </a:xfrm>
          <a:prstGeom prst="rightArrow">
            <a:avLst/>
          </a:prstGeom>
          <a:solidFill>
            <a:srgbClr val="9AA3B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4749" y="1549021"/>
            <a:ext cx="1727149" cy="2292825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C7CDD9"/>
            </a:solidFill>
            <a:prstDash val="solid"/>
          </a:ln>
          <a:effectLst>
            <a:outerShdw blurRad="76200" dist="25400" dir="5400000" algn="bl" rotWithShape="0">
              <a:srgbClr val="1F2E4A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09128" y="1737360"/>
            <a:ext cx="16427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Evaluation &amp;</a:t>
            </a: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Attribution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89341" y="2210936"/>
            <a:ext cx="1397965" cy="163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Macro-F1, AUROC, AUPRC, ECE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Exact Shapley: main effects + interaction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Paired randomization, seed intervals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Robustness grid + external stress test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053066" y="1549021"/>
            <a:ext cx="1727149" cy="2292825"/>
          </a:xfrm>
          <a:prstGeom prst="roundRect">
            <a:avLst>
              <a:gd name="adj" fmla="val 3177"/>
            </a:avLst>
          </a:prstGeom>
          <a:solidFill>
            <a:srgbClr val="EBEFF6"/>
          </a:solidFill>
          <a:ln w="12700">
            <a:solidFill>
              <a:srgbClr val="C7CDD9"/>
            </a:solidFill>
            <a:prstDash val="solid"/>
          </a:ln>
          <a:effectLst>
            <a:outerShdw blurRad="76200" dist="25400" dir="5400000" algn="bl" rotWithShape="0">
              <a:srgbClr val="1F2E4A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167583" y="1737360"/>
            <a:ext cx="1612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Evidence &amp;</a:t>
            </a: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" b="1" dirty="0">
                <a:solidFill>
                  <a:srgbClr val="1F2E4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Claim Gate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217658" y="2130006"/>
            <a:ext cx="1397965" cy="171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Requires complete factorial coverage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Reports multi-seed uncertainty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Separates diagnostic evidence from causal claims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12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A3F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Blocks unsupported headline conclusions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191</Words>
  <Application>Microsoft Office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Ashabul Yamin</cp:lastModifiedBy>
  <cp:revision>7</cp:revision>
  <dcterms:created xsi:type="dcterms:W3CDTF">2026-08-15T09:21:38Z</dcterms:created>
  <dcterms:modified xsi:type="dcterms:W3CDTF">2026-08-20T14:30:06Z</dcterms:modified>
</cp:coreProperties>
</file>